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60" r:id="rId8"/>
    <p:sldId id="262" r:id="rId9"/>
    <p:sldId id="264" r:id="rId10"/>
    <p:sldId id="265" r:id="rId11"/>
    <p:sldId id="261" r:id="rId12"/>
    <p:sldId id="263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1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5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5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0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3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5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7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3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7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0170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55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48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87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92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3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5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390C-E94F-E2FE-7C78-74797C5C64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Connect Four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E0D5E-AF7E-D80E-755F-1F71421AA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Isaiah Doan | Ivan Quintero | Tony Cao | Naven Laya</a:t>
            </a:r>
          </a:p>
          <a:p>
            <a:r>
              <a:rPr lang="en-US" err="1"/>
              <a:t>CptS</a:t>
            </a:r>
            <a:r>
              <a:rPr lang="en-US"/>
              <a:t> 440</a:t>
            </a:r>
          </a:p>
        </p:txBody>
      </p:sp>
    </p:spTree>
    <p:extLst>
      <p:ext uri="{BB962C8B-B14F-4D97-AF65-F5344CB8AC3E}">
        <p14:creationId xmlns:p14="http://schemas.microsoft.com/office/powerpoint/2010/main" val="920785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8414-591B-EF59-29E4-925D81B7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F0E6-53C9-51E9-CF09-A8D33A5EF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 panose="02110004020202020204"/>
                <a:ea typeface="+mj-lt"/>
                <a:cs typeface="+mj-lt"/>
              </a:rPr>
              <a:t>Problem:</a:t>
            </a:r>
            <a:r>
              <a:rPr lang="en-US">
                <a:latin typeface="Aptos" panose="02110004020202020204"/>
                <a:ea typeface="+mj-lt"/>
                <a:cs typeface="+mj-lt"/>
              </a:rPr>
              <a:t> Building an agent capable of playing Connect-Four at a high level.</a:t>
            </a:r>
          </a:p>
          <a:p>
            <a:r>
              <a:rPr lang="en-US" b="1">
                <a:latin typeface="Aptos" panose="02110004020202020204"/>
                <a:ea typeface="+mj-lt"/>
                <a:cs typeface="+mj-lt"/>
              </a:rPr>
              <a:t>Game Characteristics: </a:t>
            </a:r>
          </a:p>
          <a:p>
            <a:pPr lvl="1"/>
            <a:r>
              <a:rPr lang="en-US">
                <a:latin typeface="Aptos" panose="02110004020202020204"/>
                <a:ea typeface="+mj-lt"/>
                <a:cs typeface="+mj-lt"/>
              </a:rPr>
              <a:t>Two-player, perfect-information, zero-sum board game.</a:t>
            </a:r>
          </a:p>
          <a:p>
            <a:pPr lvl="1"/>
            <a:r>
              <a:rPr lang="en-US">
                <a:latin typeface="Aptos" panose="02110004020202020204"/>
                <a:ea typeface="+mj-lt"/>
                <a:cs typeface="+mj-lt"/>
              </a:rPr>
              <a:t>7 columns × 6 rows.</a:t>
            </a:r>
          </a:p>
          <a:p>
            <a:pPr lvl="1"/>
            <a:endParaRPr lang="en-US" sz="2000">
              <a:latin typeface="Aptos" panose="02110004020202020204"/>
              <a:ea typeface="+mj-lt"/>
              <a:cs typeface="+mj-lt"/>
            </a:endParaRPr>
          </a:p>
          <a:p>
            <a:pPr lvl="1"/>
            <a:endParaRPr lang="en-US" sz="2000">
              <a:latin typeface="Aptos" panose="02110004020202020204"/>
              <a:ea typeface="+mj-lt"/>
              <a:cs typeface="+mj-lt"/>
            </a:endParaRPr>
          </a:p>
          <a:p>
            <a:pPr lvl="1"/>
            <a:endParaRPr lang="en-US">
              <a:latin typeface="Aptos" panose="02110004020202020204"/>
              <a:ea typeface="+mj-lt"/>
              <a:cs typeface="+mj-lt"/>
            </a:endParaRPr>
          </a:p>
          <a:p>
            <a:r>
              <a:rPr lang="en-US" b="1">
                <a:latin typeface="Aptos" panose="02110004020202020204"/>
                <a:ea typeface="+mj-lt"/>
                <a:cs typeface="+mj-lt"/>
              </a:rPr>
              <a:t>Approach:</a:t>
            </a:r>
            <a:r>
              <a:rPr lang="en-US">
                <a:latin typeface="Aptos" panose="02110004020202020204"/>
                <a:ea typeface="+mj-lt"/>
                <a:cs typeface="+mj-lt"/>
              </a:rPr>
              <a:t> Use adversarial search algorithms to explore the game tree and determine the optimal sequence of moves.</a:t>
            </a:r>
          </a:p>
        </p:txBody>
      </p:sp>
    </p:spTree>
    <p:extLst>
      <p:ext uri="{BB962C8B-B14F-4D97-AF65-F5344CB8AC3E}">
        <p14:creationId xmlns:p14="http://schemas.microsoft.com/office/powerpoint/2010/main" val="146090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D646-5DFA-0710-6325-F2C986C0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042BD-33BC-09AE-3A5E-C7D6DD2A0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/>
              <a:t>Minimax – exhaustive game tree search (baseline)</a:t>
            </a:r>
          </a:p>
          <a:p>
            <a:pPr marL="514350" indent="-514350">
              <a:buAutoNum type="arabicPeriod"/>
            </a:pPr>
            <a:r>
              <a:rPr lang="en-US"/>
              <a:t>Alpha-Beta Pruning – skip provably irrelevant branches</a:t>
            </a:r>
          </a:p>
          <a:p>
            <a:pPr marL="514350" indent="-514350">
              <a:buAutoNum type="arabicPeriod"/>
            </a:pPr>
            <a:r>
              <a:rPr lang="en-US"/>
              <a:t>Move-ordering – try center columns first for earlier cutoffs</a:t>
            </a:r>
          </a:p>
          <a:p>
            <a:pPr marL="514350" indent="-514350">
              <a:buAutoNum type="arabicPeriod"/>
            </a:pPr>
            <a:r>
              <a:rPr lang="en-US"/>
              <a:t>Improved Heuristic – positional weights + window of 4 scoring</a:t>
            </a:r>
          </a:p>
          <a:p>
            <a:pPr marL="514350" indent="-514350">
              <a:buAutoNum type="arabicPeriod"/>
            </a:pPr>
            <a:r>
              <a:rPr lang="en-US"/>
              <a:t>Iterative Deepening – search deeper within a time budget</a:t>
            </a:r>
          </a:p>
          <a:p>
            <a:pPr marL="514350" indent="-514350">
              <a:buAutoNum type="arabicPeriod"/>
            </a:pPr>
            <a:r>
              <a:rPr lang="en-US"/>
              <a:t>Transposition Table – cache evaluated positions to avoid redundant work</a:t>
            </a:r>
          </a:p>
          <a:p>
            <a:pPr marL="514350" indent="-51435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Each enhancement builds on the previous one, progressively improving play strength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154395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D465-1AD5-8789-9C3B-E072568E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Adversarial Search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16B79-46F5-3028-1B9B-6750CE139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Minimax Algorithm: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Evaluates all possible moves up to a fixed depth.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Assumes the opponent plays optimally to minimize our score.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 b="1"/>
              <a:t>Limitation:</a:t>
            </a:r>
            <a:r>
              <a:rPr lang="en-US"/>
              <a:t> The game tree grows exponentially, making deep searches too slow.</a:t>
            </a:r>
          </a:p>
          <a:p>
            <a:r>
              <a:rPr lang="en-US" b="1"/>
              <a:t>Alpha-Beta Pruning: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Optimization of Minimax.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Keeps track of the min score we are guaranteed  and max score opponent can force.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Prunes branches that cannot possibly affect the final decision.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Produces the exact same result as Minimax but much faster.</a:t>
            </a:r>
          </a:p>
        </p:txBody>
      </p:sp>
    </p:spTree>
    <p:extLst>
      <p:ext uri="{BB962C8B-B14F-4D97-AF65-F5344CB8AC3E}">
        <p14:creationId xmlns:p14="http://schemas.microsoft.com/office/powerpoint/2010/main" val="63358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8493-C19F-8FBA-BB0F-E88B9051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Search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678B-AD8C-3910-33BA-1E4F1DB88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implemented several enhancements to optimize Alpha-Beta pruning:</a:t>
            </a:r>
          </a:p>
          <a:p>
            <a:pPr lvl="1" indent="-342900">
              <a:buAutoNum type="arabicPeriod"/>
            </a:pPr>
            <a:r>
              <a:rPr lang="en-US" b="1"/>
              <a:t>Move Ordering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Alpha-Beta prunes more effectively if it checks good moves first.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We order move generation to evaluate the center columns first, working outward. Center columns control more of the board.</a:t>
            </a:r>
          </a:p>
          <a:p>
            <a:pPr lvl="1" indent="-342900">
              <a:buAutoNum type="arabicPeriod"/>
            </a:pPr>
            <a:r>
              <a:rPr lang="en-US" b="1"/>
              <a:t>Transposition Table: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Different move sequences can lead to the identical board state.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We hash board states and cache their evaluation scores in a table.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Prevents redundant searches and significantly speeds up execution.</a:t>
            </a:r>
          </a:p>
          <a:p>
            <a:pPr marL="800100" lvl="1" indent="-457200">
              <a:buFont typeface="Arial" panose="020B0604020202020204" pitchFamily="34" charset="0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78EC-E86D-56CD-35DB-4109E8F7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Deepening &amp; Time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8D80-775B-DD10-7CC4-E2A6D6E83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 a real game, agents must adhere to time constraints (e.g., 2 seconds per move).</a:t>
            </a:r>
          </a:p>
          <a:p>
            <a:r>
              <a:rPr lang="en-US"/>
              <a:t>Fixed-depth search might finish in 0.1s or take 10s.</a:t>
            </a:r>
          </a:p>
          <a:p>
            <a:r>
              <a:rPr lang="en-US" b="1"/>
              <a:t>Iterative Deepening: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Searches the tree at depth 1, then depth 2, then depth 3...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If the time budget expires, it immediately returns the best move found from the deepest completed search.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Guarantees an "anytime" response while maximizing available time.</a:t>
            </a:r>
          </a:p>
        </p:txBody>
      </p:sp>
    </p:spTree>
    <p:extLst>
      <p:ext uri="{BB962C8B-B14F-4D97-AF65-F5344CB8AC3E}">
        <p14:creationId xmlns:p14="http://schemas.microsoft.com/office/powerpoint/2010/main" val="154986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2EC4-6CB5-3E26-24B1-2821B97B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Evaluation (Heuristics)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FEB33-ABE3-7E9B-1B50-EA48457AB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When the agent reaches the maximum depth, it must evaluate non-terminal board states. Our heuristic function uses 2 techniques:</a:t>
            </a:r>
          </a:p>
          <a:p>
            <a:r>
              <a:rPr lang="en-US" b="1"/>
              <a:t>Positional Weights:</a:t>
            </a:r>
            <a:r>
              <a:rPr lang="en-US"/>
              <a:t> Pre-defined matrix giving higher value to pieces closer to the center of the board.</a:t>
            </a:r>
          </a:p>
          <a:p>
            <a:r>
              <a:rPr lang="en-US" b="1"/>
              <a:t>Sliding Window Scoring: 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Scans all rows, columns, and diagonals in "windows" of 4 cells.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Rewards states where the agent has 3 pieces and 1 empty cell.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Heavily penalizes states where the opponent has 3 pieces and 1 empty cell (blocks opponent wins).</a:t>
            </a:r>
          </a:p>
        </p:txBody>
      </p:sp>
    </p:spTree>
    <p:extLst>
      <p:ext uri="{BB962C8B-B14F-4D97-AF65-F5344CB8AC3E}">
        <p14:creationId xmlns:p14="http://schemas.microsoft.com/office/powerpoint/2010/main" val="161051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8C7F-846D-959C-6928-9EF63D41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Win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DAE3-D1FC-C993-AF4D-AA4D69791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Alpha-Beta (depth 6) vs Random: 100% win rate over 100 games</a:t>
            </a:r>
          </a:p>
          <a:p>
            <a:r>
              <a:rPr lang="en-US"/>
              <a:t>Minimax (depth 4) vs Random: 100% win rate over 100 games</a:t>
            </a:r>
          </a:p>
          <a:p>
            <a:r>
              <a:rPr lang="en-US"/>
              <a:t>Alpha-Beta (depth 6) vs Minimax (depth 4): ~90% win rate over 50 games</a:t>
            </a:r>
          </a:p>
          <a:p>
            <a:r>
              <a:rPr lang="en-US"/>
              <a:t>Iterative Deepening (2s) vs Random: 100% win rate over 50 games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(Demo notebook has the full bar chart)</a:t>
            </a:r>
          </a:p>
        </p:txBody>
      </p:sp>
    </p:spTree>
    <p:extLst>
      <p:ext uri="{BB962C8B-B14F-4D97-AF65-F5344CB8AC3E}">
        <p14:creationId xmlns:p14="http://schemas.microsoft.com/office/powerpoint/2010/main" val="66549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AADA-1B5B-7247-80E3-EFA8A458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55548-7DC4-3E3B-5FC4-1FCD635A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Node Expansion (same board, same depth):</a:t>
            </a:r>
          </a:p>
          <a:p>
            <a:r>
              <a:rPr lang="en-US"/>
              <a:t>Depth 4: Minimax ~2,800 vs Alpha-Beta ~400 (85% reduction)</a:t>
            </a:r>
          </a:p>
          <a:p>
            <a:r>
              <a:rPr lang="en-US"/>
              <a:t>Depth 5: Minimax ~17,000 vs Alpha-Beta ~1,500 (91% reduction)</a:t>
            </a:r>
          </a:p>
          <a:p>
            <a:r>
              <a:rPr lang="en-US"/>
              <a:t>Depth 6: Minimax ~110,000 vs Alpha-Beta ~5,000 (95% reduction)</a:t>
            </a:r>
          </a:p>
          <a:p>
            <a:r>
              <a:rPr lang="en-US"/>
              <a:t>Execution Time (Alpha-Beta per move):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Depth 4: ~0.05 | Depth 6: ~1.0s | Depth 8: ~15s</a:t>
            </a:r>
            <a:endParaRPr lang="en-US"/>
          </a:p>
          <a:p>
            <a:pPr marL="457200" lvl="1" indent="0">
              <a:buNone/>
            </a:pPr>
            <a:endParaRPr lang="en-US" sz="2800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EC7C-92EF-CBEE-FF47-E9467193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7F40-1767-3206-A2D1-E29BF5885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successfully built a strong Connect-Four agent using Adversarial Search.</a:t>
            </a:r>
          </a:p>
          <a:p>
            <a:r>
              <a:rPr lang="en-US" b="1"/>
              <a:t>Key Takeaways:</a:t>
            </a:r>
          </a:p>
          <a:p>
            <a:pPr marL="800100" lvl="1" indent="-457200">
              <a:buAutoNum type="arabicPeriod"/>
            </a:pPr>
            <a:r>
              <a:rPr lang="en-US"/>
              <a:t>Alpha-Beta pruning is mandatory for playing at competitive depths.</a:t>
            </a:r>
          </a:p>
          <a:p>
            <a:pPr marL="800100" lvl="1" indent="-457200">
              <a:buAutoNum type="arabicPeriod"/>
            </a:pPr>
            <a:r>
              <a:rPr lang="en-US"/>
              <a:t>Search enhancements (Transposition tables, move ordering) compound the benefits of pruning.</a:t>
            </a:r>
          </a:p>
          <a:p>
            <a:pPr marL="800100" lvl="1" indent="-457200">
              <a:buAutoNum type="arabicPeriod"/>
            </a:pPr>
            <a:r>
              <a:rPr lang="en-US"/>
              <a:t>Iterative deepening provides necessary real-time predictability.</a:t>
            </a:r>
          </a:p>
          <a:p>
            <a:pPr marL="800100" lvl="1" indent="-457200">
              <a:buAutoNum type="arabicPeriod"/>
            </a:pPr>
            <a:r>
              <a:rPr lang="en-US"/>
              <a:t>A sophisticated heuristic is just as important as deep searching for preventing traps.</a:t>
            </a:r>
          </a:p>
          <a:p>
            <a:pPr marL="800100" lvl="1" indent="-4572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424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C19139B3C60489AC92A95B7D0BABA" ma:contentTypeVersion="5" ma:contentTypeDescription="Create a new document." ma:contentTypeScope="" ma:versionID="4ce21ec99b6ebc329b4b443d93d5b5b4">
  <xsd:schema xmlns:xsd="http://www.w3.org/2001/XMLSchema" xmlns:xs="http://www.w3.org/2001/XMLSchema" xmlns:p="http://schemas.microsoft.com/office/2006/metadata/properties" xmlns:ns3="0c58bc31-f465-4108-8e24-a829ee698a9d" targetNamespace="http://schemas.microsoft.com/office/2006/metadata/properties" ma:root="true" ma:fieldsID="1f54b3540204a4fd328e0c4e3a129242" ns3:_="">
    <xsd:import namespace="0c58bc31-f465-4108-8e24-a829ee698a9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8bc31-f465-4108-8e24-a829ee698a9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58bc31-f465-4108-8e24-a829ee698a9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092890-E0C7-479D-8CD9-5206FE6C1640}">
  <ds:schemaRefs>
    <ds:schemaRef ds:uri="0c58bc31-f465-4108-8e24-a829ee698a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C524199-88B0-4A78-AB69-873D54F211EF}">
  <ds:schemaRefs>
    <ds:schemaRef ds:uri="0c58bc31-f465-4108-8e24-a829ee698a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FA5152-D76B-4399-9570-ECA3AF0921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Connect Four Agent</vt:lpstr>
      <vt:lpstr>Introduction &amp; Motivation</vt:lpstr>
      <vt:lpstr>Approach</vt:lpstr>
      <vt:lpstr>Adversarial Search Foundation</vt:lpstr>
      <vt:lpstr>Search Enhancements</vt:lpstr>
      <vt:lpstr>Iterative Deepening &amp; Time Management</vt:lpstr>
      <vt:lpstr>State Evaluation (Heuristics)</vt:lpstr>
      <vt:lpstr>Results: Win Rate</vt:lpstr>
      <vt:lpstr>Results: Efficiency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Laya, Naven Christian</dc:creator>
  <cp:revision>3</cp:revision>
  <dcterms:created xsi:type="dcterms:W3CDTF">2026-04-27T21:16:09Z</dcterms:created>
  <dcterms:modified xsi:type="dcterms:W3CDTF">2026-05-02T02:44:48Z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0x010100B0CC19139B3C60489AC92A95B7D0BABA</vt:lpwstr>
  </property>
</Properties>
</file>